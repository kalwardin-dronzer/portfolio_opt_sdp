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31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30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Dynamic Portfolio Allocation</a:t>
            </a:r>
            <a:br/>
            <a:r>
              <a:t>under Income Uncertainty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200400"/>
            <a:ext cx="2103120" cy="36576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0" y="34747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EC4B6"/>
                </a:solidFill>
                <a:latin typeface="Calibri"/>
              </a:defRPr>
            </a:pPr>
            <a:r>
              <a:t>Stochastic Dynamic Programming  |  Module II &amp;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20624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CCCCC"/>
                </a:solidFill>
                <a:latin typeface="Calibri"/>
              </a:defRPr>
            </a:pPr>
            <a:r>
              <a:t>ED413 Advanced Optimization  •  Jharkhand Salaried Households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2/16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73152" cy="9144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"How should a salaried person in Jharkhand optimally split savings</a:t>
            </a:r>
            <a:br/>
            <a:r>
              <a:t>between equity (Nifty 50) and fixed deposits over a 10-year horizon?"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6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Salary income is stochastic — modelled as a 3-state Markov chain</a:t>
            </a:r>
          </a:p>
          <a:p>
            <a:pPr>
              <a:spcAft>
                <a:spcPts val="136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Market returns are regime-switching — bear / neutral / bull</a:t>
            </a:r>
          </a:p>
          <a:p>
            <a:pPr>
              <a:spcAft>
                <a:spcPts val="136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Today's allocation decisions affect all future wealth outcomes</a:t>
            </a:r>
          </a:p>
          <a:p>
            <a:pPr>
              <a:spcAft>
                <a:spcPts val="136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Method: Finite-horizon Stochastic Dynamic Programming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303520"/>
            <a:ext cx="10789920" cy="10972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5394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4B6"/>
                </a:solidFill>
                <a:latin typeface="Calibri"/>
              </a:defRPr>
            </a:pPr>
            <a:r>
              <a:t>Deliverables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State-transition model  •  Bellman equation  •  Value/Policy iteration  •  Simulation + policy plots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State-Transition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3/16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State &amp; Action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640080" y="2011680"/>
                <a:ext cx="5029200" cy="2990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750"/>
                  </a:spcAft>
                  <a:defRPr sz="1500">
                    <a:solidFill>
                      <a:srgbClr val="333333"/>
                    </a:solidFill>
                    <a:latin typeface="Calibri"/>
                  </a:defRPr>
                </a:pPr>
                <a:r>
                  <a:rPr dirty="0"/>
                  <a:t>State: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IN" dirty="0"/>
              </a:p>
              <a:p>
                <a:pPr>
                  <a:spcAft>
                    <a:spcPts val="750"/>
                  </a:spcAft>
                  <a:defRPr sz="1500">
                    <a:solidFill>
                      <a:srgbClr val="333333"/>
                    </a:solidFill>
                    <a:latin typeface="Calibri"/>
                  </a:defRPr>
                </a:pPr>
                <a:endParaRPr lang="en-IN" dirty="0"/>
              </a:p>
              <a:p>
                <a:pPr>
                  <a:spcAft>
                    <a:spcPts val="750"/>
                  </a:spcAft>
                  <a:defRPr sz="1500">
                    <a:solidFill>
                      <a:srgbClr val="333333"/>
                    </a:solidFill>
                    <a:latin typeface="Calibri"/>
                  </a:defRPr>
                </a:pPr>
                <a:r>
                  <a:rPr lang="en-IN" dirty="0"/>
                  <a:t>  </a:t>
                </a:r>
                <a:r>
                  <a:rPr dirty="0"/>
                  <a:t>•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N" dirty="0"/>
                  <a:t> </a:t>
                </a:r>
                <a:r>
                  <a:rPr dirty="0"/>
                  <a:t>= Wealth (discretized, 81 grid points)</a:t>
                </a:r>
              </a:p>
              <a:p>
                <a:pPr>
                  <a:spcAft>
                    <a:spcPts val="750"/>
                  </a:spcAft>
                  <a:defRPr sz="1500">
                    <a:solidFill>
                      <a:srgbClr val="333333"/>
                    </a:solidFill>
                    <a:latin typeface="Calibri"/>
                  </a:defRPr>
                </a:pPr>
                <a:r>
                  <a:rPr dirty="0"/>
                  <a:t>  •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dirty="0"/>
                  <a:t>  = Income tier  {Low, Mid, High}</a:t>
                </a:r>
              </a:p>
              <a:p>
                <a:pPr>
                  <a:spcAft>
                    <a:spcPts val="750"/>
                  </a:spcAft>
                  <a:defRPr sz="1500">
                    <a:solidFill>
                      <a:srgbClr val="333333"/>
                    </a:solidFill>
                    <a:latin typeface="Calibri"/>
                  </a:defRPr>
                </a:pPr>
                <a:r>
                  <a:rPr dirty="0"/>
                  <a:t>  •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dirty="0"/>
                  <a:t>= Market regime {Bear, Neutral, Bull}</a:t>
                </a:r>
              </a:p>
              <a:p>
                <a:pPr>
                  <a:spcAft>
                    <a:spcPts val="750"/>
                  </a:spcAft>
                  <a:defRPr sz="1500">
                    <a:solidFill>
                      <a:srgbClr val="333333"/>
                    </a:solidFill>
                    <a:latin typeface="Calibri"/>
                  </a:defRPr>
                </a:pPr>
                <a:endParaRPr dirty="0"/>
              </a:p>
              <a:p>
                <a:pPr>
                  <a:spcAft>
                    <a:spcPts val="750"/>
                  </a:spcAft>
                  <a:defRPr sz="1500">
                    <a:solidFill>
                      <a:srgbClr val="333333"/>
                    </a:solidFill>
                    <a:latin typeface="Calibri"/>
                  </a:defRPr>
                </a:pPr>
                <a:r>
                  <a:rPr dirty="0"/>
                  <a:t>Action: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n-IN" dirty="0"/>
              </a:p>
              <a:p>
                <a:pPr>
                  <a:spcAft>
                    <a:spcPts val="750"/>
                  </a:spcAft>
                  <a:defRPr sz="1500">
                    <a:solidFill>
                      <a:srgbClr val="333333"/>
                    </a:solidFill>
                    <a:latin typeface="Calibri"/>
                  </a:defRPr>
                </a:pPr>
                <a:r>
                  <a:rPr dirty="0"/>
                  <a:t>• Share allocated to risky asset (Nifty 50)</a:t>
                </a:r>
              </a:p>
              <a:p>
                <a:pPr>
                  <a:spcAft>
                    <a:spcPts val="750"/>
                  </a:spcAft>
                  <a:defRPr sz="1500">
                    <a:solidFill>
                      <a:srgbClr val="333333"/>
                    </a:solidFill>
                    <a:latin typeface="Calibri"/>
                  </a:defRPr>
                </a:pPr>
                <a:r>
                  <a:rPr dirty="0"/>
                  <a:t>• 11 discrete levels: 0%, 10%, ... , 100%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2011680"/>
                <a:ext cx="5029200" cy="2990562"/>
              </a:xfrm>
              <a:prstGeom prst="rect">
                <a:avLst/>
              </a:prstGeom>
              <a:blipFill>
                <a:blip r:embed="rId2"/>
                <a:stretch>
                  <a:fillRect l="-485" t="-407" b="-12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Calibrated Values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Income Tiers (PLFS 2023-24):</a:t>
            </a:r>
          </a:p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Low ₹2.04L  |  Mid ₹3.50L  |  High ₹6.00L</a:t>
            </a:r>
          </a:p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Market Regimes (Nifty 50 TRI 2005-24):</a:t>
            </a:r>
          </a:p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Bear −15%  |  Neutral +9%  |  Bull +28%</a:t>
            </a:r>
          </a:p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Both evolve as Markov chains with</a:t>
            </a:r>
          </a:p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data-estimated transition matrices.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640080" y="5212080"/>
                <a:ext cx="10789920" cy="1188720"/>
              </a:xfrm>
              <a:prstGeom prst="rect">
                <a:avLst/>
              </a:prstGeom>
              <a:solidFill>
                <a:srgbClr val="F5F7F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fr-FR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fr-FR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FR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fr-FR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fr-FR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fr-FR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fr-FR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fr-FR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fr-FR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fr-FR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fr-FR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fr-FR" i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risky</m:t>
                                  </m:r>
                                </m:sub>
                              </m:sSub>
                            </m:e>
                          </m:d>
                          <m:r>
                            <a:rPr lang="fr-FR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fr-FR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fr-FR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fr-FR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fr-FR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fr-FR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fr-FR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IN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  <a:p>
                <a:pPr algn="ctr"/>
                <a:endParaRPr lang="fr-FR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5212080"/>
                <a:ext cx="10789920" cy="11887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914400" y="5303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4B6"/>
                </a:solidFill>
                <a:latin typeface="Calibri"/>
              </a:defRPr>
            </a:pPr>
            <a:r>
              <a:t>Wealth Transition Equation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Markov Transition Matrices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EC4B6"/>
                </a:solidFill>
                <a:latin typeface="Calibri"/>
              </a:defRPr>
            </a:pPr>
            <a:r>
              <a:t>Income &amp; Return Regime Dynamics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4/16</a:t>
            </a:r>
          </a:p>
        </p:txBody>
      </p:sp>
      <p:pic>
        <p:nvPicPr>
          <p:cNvPr id="7" name="Picture 6" descr="transit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11247120" cy="43258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126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rPr dirty="0"/>
              <a:t>Sources: Income — IHDS-II panel priors for formal salaried employment  |  Returns — Nifty 50 TRI year-to-year regime transitions 2005-2024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Data Calibration &amp; Key 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5/16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554480"/>
            <a:ext cx="10058400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Parameter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1600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Source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011680"/>
            <a:ext cx="1005840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2057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β  (discount factor)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057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0.96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2057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Ljungqvist &amp; Sargent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468880"/>
            <a:ext cx="10058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2514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γ  (risk aversion)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2514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3.0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2514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Campbell &amp; Viceira (2002)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2926080"/>
            <a:ext cx="1005840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1051560" y="2971800"/>
                <a:ext cx="2743200" cy="3083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1300" b="0">
                    <a:solidFill>
                      <a:srgbClr val="333333"/>
                    </a:solidFill>
                    <a:latin typeface="Calibri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fr-FR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dirty="0"/>
                  <a:t>(risk-free rate)</a:t>
                </a: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560" y="2971800"/>
                <a:ext cx="2743200" cy="308354"/>
              </a:xfrm>
              <a:prstGeom prst="rect">
                <a:avLst/>
              </a:prstGeom>
              <a:blipFill>
                <a:blip r:embed="rId2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3794760" y="2971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6.9%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971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10Y G-Sec yield, RBI/FBIL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3383280"/>
            <a:ext cx="10058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1560" y="3429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s  (saving rate)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429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3429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RBI Annual Report 2024-25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51560" y="3886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Income tiers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886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₹2.04L / ₹3.50L / ₹6.00L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3886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PLFS 2023-24 (MoSPI)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4297680"/>
            <a:ext cx="10058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51560" y="4343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Return regimes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343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−15% / +9% / +28%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4343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Nifty 50 TRI 2005-2024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51560" y="4800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Wealth grid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4800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₹10K — ₹25L (81 pts)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4800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Discretisation choice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51560" y="5257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Action grid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94760" y="5257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0% to 100% (11 levels)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60" y="5257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Discretisation choice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" y="5486400"/>
            <a:ext cx="10058400" cy="914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97280" y="5486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4B6"/>
                </a:solidFill>
                <a:latin typeface="Calibri"/>
              </a:defRPr>
            </a:pPr>
            <a:r>
              <a:t>Key Assumptions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" y="58064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▸ Saving rate is exogenous (20%, fixed)   ▸ No transaction costs or taxes   ▸ Nominal terms (no explicit inflation adjustment)   ▸ No short-selling (α ∈ [0,1])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Finite-Horizon Bellman Equation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6/16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4B6"/>
                </a:solidFill>
                <a:latin typeface="Calibri"/>
              </a:defRPr>
            </a:pPr>
            <a:r>
              <a:t>Terminal Value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200400" y="1522363"/>
                <a:ext cx="822960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1600" b="1">
                    <a:solidFill>
                      <a:srgbClr val="1B2A4A"/>
                    </a:solidFill>
                    <a:latin typeface="Calibri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d>
                      <m:d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𝑾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d>
                    <m:r>
                      <a:rPr lang="en-IN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dirty="0"/>
                  <a:t>=  u( W )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1522363"/>
                <a:ext cx="8229600" cy="338554"/>
              </a:xfrm>
              <a:prstGeom prst="rect">
                <a:avLst/>
              </a:prstGeom>
              <a:blipFill>
                <a:blip r:embed="rId2"/>
                <a:stretch>
                  <a:fillRect t="-5455" b="-236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640080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4B6"/>
                </a:solidFill>
                <a:latin typeface="Calibri"/>
              </a:defRPr>
            </a:pPr>
            <a:r>
              <a:t>CRRA Utility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200400" y="1965960"/>
                <a:ext cx="8229600" cy="759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1600" b="1">
                    <a:solidFill>
                      <a:srgbClr val="1B2A4A"/>
                    </a:solidFill>
                    <a:latin typeface="Calibri"/>
                  </a:defRPr>
                </a:pP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𝒖</m:t>
                    </m:r>
                    <m:d>
                      <m:d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IN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𝜸</m:t>
                            </m:r>
                          </m:sup>
                        </m:sSup>
                      </m:num>
                      <m:den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𝜸</m:t>
                        </m:r>
                      </m:den>
                    </m:f>
                    <m:r>
                      <a:rPr lang="en-IN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dirty="0"/>
                  <a:t>where γ = 3</a:t>
                </a:r>
                <a:endParaRPr lang="en-IN" dirty="0"/>
              </a:p>
              <a:p>
                <a:pPr algn="l">
                  <a:defRPr sz="1600" b="1">
                    <a:solidFill>
                      <a:srgbClr val="1B2A4A"/>
                    </a:solidFill>
                    <a:latin typeface="Calibri"/>
                  </a:defRPr>
                </a:pPr>
                <a:endParaRPr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1965960"/>
                <a:ext cx="8229600" cy="7590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640080" y="2563205"/>
            <a:ext cx="2743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4B6"/>
                </a:solidFill>
                <a:latin typeface="Calibri"/>
              </a:defRPr>
            </a:pPr>
            <a:r>
              <a:rPr dirty="0"/>
              <a:t>Flow Utility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200400" y="2261449"/>
                <a:ext cx="8229600" cy="13961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1600" b="1">
                    <a:solidFill>
                      <a:srgbClr val="1B2A4A"/>
                    </a:solidFill>
                    <a:latin typeface="Calibri"/>
                  </a:defRPr>
                </a:pPr>
                <a:endParaRPr lang="en-IN" b="1" dirty="0"/>
              </a:p>
              <a:p>
                <a:pPr>
                  <a:defRPr sz="1600" b="1">
                    <a:solidFill>
                      <a:srgbClr val="1B2A4A"/>
                    </a:solidFill>
                    <a:latin typeface="Calibri"/>
                  </a:defRPr>
                </a:pPr>
                <a:r>
                  <a:rPr lang="en-IN" b="1" dirty="0"/>
                  <a:t> </a:t>
                </a:r>
                <a14:m>
                  <m:oMath xmlns:m="http://schemas.openxmlformats.org/officeDocument/2006/math">
                    <m:r>
                      <a:rPr lang="en-IN" b="1" i="1" smtClean="0">
                        <a:latin typeface="Cambria Math" panose="02040503050406030204" pitchFamily="18" charset="0"/>
                      </a:rPr>
                      <m:t>𝒖</m:t>
                    </m:r>
                    <m:d>
                      <m:d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e>
                    </m:d>
                    <m:r>
                      <a:rPr lang="en-IN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𝒖</m:t>
                    </m:r>
                    <m:d>
                      <m:d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</m:d>
                        <m:r>
                          <a:rPr lang="en-IN" b="1" i="1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e>
                    </m:d>
                  </m:oMath>
                </a14:m>
                <a:endParaRPr lang="en-IN" b="1" i="1" dirty="0">
                  <a:latin typeface="Cambria Math" panose="02040503050406030204" pitchFamily="18" charset="0"/>
                </a:endParaRPr>
              </a:p>
              <a:p>
                <a:pPr>
                  <a:defRPr sz="1600" b="1">
                    <a:solidFill>
                      <a:srgbClr val="1B2A4A"/>
                    </a:solidFill>
                    <a:latin typeface="Calibri"/>
                  </a:defRPr>
                </a:pPr>
                <a:endParaRPr lang="en-IN" b="1" i="1" dirty="0">
                  <a:latin typeface="Cambria Math" panose="02040503050406030204" pitchFamily="18" charset="0"/>
                </a:endParaRPr>
              </a:p>
              <a:p>
                <a:pPr>
                  <a:defRPr sz="1600" b="1">
                    <a:solidFill>
                      <a:srgbClr val="1B2A4A"/>
                    </a:solidFill>
                    <a:latin typeface="Calibri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IN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I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IN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𝜶</m:t>
                              </m:r>
                            </m:e>
                            <m:sub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  <m:d>
                            <m:dPr>
                              <m:ctrlPr>
                                <a:rPr lang="en-IN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𝒓𝒊𝒔𝒌𝒚</m:t>
                                  </m:r>
                                </m:sub>
                              </m:sSub>
                            </m:e>
                          </m:d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IN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𝜶</m:t>
                                  </m:r>
                                </m:e>
                                <m:sub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IN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IN" b="1" dirty="0"/>
              </a:p>
              <a:p>
                <a:pPr>
                  <a:defRPr sz="1600" b="1">
                    <a:solidFill>
                      <a:srgbClr val="1B2A4A"/>
                    </a:solidFill>
                    <a:latin typeface="Calibri"/>
                  </a:defRPr>
                </a:pPr>
                <a:endParaRPr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2261449"/>
                <a:ext cx="8229600" cy="13961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64008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4B6"/>
                </a:solidFill>
                <a:latin typeface="Calibri"/>
              </a:defRPr>
            </a:pPr>
            <a:r>
              <a:t>Wealth Transition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840480"/>
            <a:ext cx="10789920" cy="1371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931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4B6"/>
                </a:solidFill>
                <a:latin typeface="Calibri"/>
              </a:defRPr>
            </a:pPr>
            <a:r>
              <a:t>Bellman Recursion  (t = T−1, ..., 0)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914400" y="4389120"/>
                <a:ext cx="10515600" cy="8735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2200" b="1">
                    <a:solidFill>
                      <a:srgbClr val="FFFFFF"/>
                    </a:solidFill>
                    <a:latin typeface="Calibri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d>
                        <m:dPr>
                          <m:ctrlPr>
                            <a:rPr lang="en-IN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𝑾</m:t>
                          </m:r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</m:d>
                      <m:r>
                        <a:rPr lang="en-IN" b="1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IN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IN" b="1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IN" b="0" i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𝜶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IN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  <m:d>
                                <m:dPr>
                                  <m:ctrlP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1" i="1">
                                          <a:latin typeface="Cambria Math" panose="02040503050406030204" pitchFamily="18" charset="0"/>
                                        </a:rPr>
                                        <m:t>𝒄</m:t>
                                      </m:r>
                                    </m:e>
                                    <m:sub>
                                      <m:r>
                                        <a:rPr lang="en-IN" b="1" i="1">
                                          <a:latin typeface="Cambria Math" panose="02040503050406030204" pitchFamily="18" charset="0"/>
                                        </a:rPr>
                                        <m:t>𝒕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  <m:d>
                                <m:dPr>
                                  <m:begChr m:val="["/>
                                  <m:endChr m:val="]"/>
                                  <m:sepChr m:val="∣"/>
                                  <m:ctrlP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1" i="1">
                                          <a:latin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IN" b="1" i="1">
                                          <a:latin typeface="Cambria Math" panose="02040503050406030204" pitchFamily="18" charset="0"/>
                                        </a:rPr>
                                        <m:t>𝒕</m:t>
                                      </m:r>
                                      <m:r>
                                        <a:rPr lang="en-IN" b="1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IN" b="1" i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IN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IN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IN" b="1" i="1">
                                              <a:latin typeface="Cambria Math" panose="02040503050406030204" pitchFamily="18" charset="0"/>
                                            </a:rPr>
                                            <m:t>𝑾</m:t>
                                          </m:r>
                                        </m:e>
                                        <m:sup>
                                          <m:r>
                                            <a:rPr lang="en-IN" b="1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IN" b="1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p>
                                        <m:sSupPr>
                                          <m:ctrlPr>
                                            <a:rPr lang="en-IN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IN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  <m:sup>
                                          <m:r>
                                            <a:rPr lang="en-IN" b="1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IN" b="1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p>
                                        <m:sSupPr>
                                          <m:ctrlPr>
                                            <a:rPr lang="en-IN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IN" b="1" i="1">
                                              <a:latin typeface="Cambria Math" panose="02040503050406030204" pitchFamily="18" charset="0"/>
                                            </a:rPr>
                                            <m:t>𝒛</m:t>
                                          </m:r>
                                        </m:e>
                                        <m:sup>
                                          <m:r>
                                            <a:rPr lang="en-IN" b="1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e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𝜶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IN" b="1" dirty="0"/>
              </a:p>
              <a:p>
                <a:pPr algn="ctr">
                  <a:defRPr sz="2200" b="1">
                    <a:solidFill>
                      <a:srgbClr val="FFFFFF"/>
                    </a:solidFill>
                    <a:latin typeface="Calibri"/>
                  </a:defRPr>
                </a:pPr>
                <a:endParaRPr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389120"/>
                <a:ext cx="10515600" cy="8735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640080" y="5669280"/>
                <a:ext cx="10515600" cy="3281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400" b="0">
                    <a:solidFill>
                      <a:srgbClr val="666666"/>
                    </a:solidFill>
                    <a:latin typeface="Calibri"/>
                  </a:defRPr>
                </a:pPr>
                <a:r>
                  <a:rPr dirty="0"/>
                  <a:t>β = 0.96  •  γ = 3  •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𝒇</m:t>
                        </m:r>
                      </m:sub>
                    </m:sSub>
                    <m:r>
                      <a:rPr lang="en-IN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dirty="0"/>
                  <a:t>= 6.9% (10Y G-Sec)  •  s = 20% (RBI)  •  Horizon T = 10 years</a:t>
                </a:r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5669280"/>
                <a:ext cx="10515600" cy="328167"/>
              </a:xfrm>
              <a:prstGeom prst="rect">
                <a:avLst/>
              </a:prstGeom>
              <a:blipFill>
                <a:blip r:embed="rId6"/>
                <a:stretch>
                  <a:fillRect t="-1852" b="-129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rPr dirty="0"/>
              <a:t>Solution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EC4B6"/>
                </a:solidFill>
                <a:latin typeface="Calibri"/>
              </a:defRPr>
            </a:pPr>
            <a:r>
              <a:t>Value Iteration &amp; Policy Iteration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7/16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819" y="1337637"/>
            <a:ext cx="4033157" cy="224942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rPr dirty="0"/>
              <a:t>Value Iteration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646" y="1828800"/>
            <a:ext cx="3513909" cy="137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2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▸ Backward induction from t=T to t=0</a:t>
            </a:r>
          </a:p>
          <a:p>
            <a:pPr>
              <a:spcAft>
                <a:spcPts val="112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▸ One Bellman optimality backup per stage</a:t>
            </a:r>
          </a:p>
          <a:p>
            <a:pPr>
              <a:spcAft>
                <a:spcPts val="112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▸ Direct computation — guaranteed optimal</a:t>
            </a:r>
          </a:p>
          <a:p>
            <a:pPr>
              <a:spcAft>
                <a:spcPts val="112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▸ O(|W| × |Y| × |Z| × |A|) per stage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37636"/>
            <a:ext cx="4158887" cy="2249425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12626" y="1463251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rPr dirty="0"/>
              <a:t>Policy Iteration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39" y="1773698"/>
            <a:ext cx="3778431" cy="137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2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▸ Evaluate policy → Improve greedily → Repeat</a:t>
            </a:r>
          </a:p>
          <a:p>
            <a:pPr>
              <a:spcAft>
                <a:spcPts val="112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▸ Converges in ~6-8 iterations per stage</a:t>
            </a:r>
          </a:p>
          <a:p>
            <a:pPr>
              <a:spcAft>
                <a:spcPts val="112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▸ More efficient per iteration</a:t>
            </a:r>
          </a:p>
          <a:p>
            <a:pPr>
              <a:spcAft>
                <a:spcPts val="112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▸ Validated: matches VI optimal policy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712464"/>
            <a:ext cx="11247120" cy="532965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6215" y="3847761"/>
            <a:ext cx="1048620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 dirty="0"/>
              <a:t>Grid: 81 wealth pts (₹10K–₹25L)  ×  11 actions (0%–100%)  ×  3 income × 3 return states    ✓  Both methods yield identical optimal policies</a:t>
            </a:r>
          </a:p>
        </p:txBody>
      </p:sp>
      <p:pic>
        <p:nvPicPr>
          <p:cNvPr id="15" name="Picture 14" descr="convergence_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285" y="4275446"/>
            <a:ext cx="4982228" cy="24911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11993336" cy="892586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Optimal Policy: Bear &amp; Neutral Regimes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8/16</a:t>
            </a:r>
          </a:p>
        </p:txBody>
      </p:sp>
      <p:pic>
        <p:nvPicPr>
          <p:cNvPr id="6" name="Picture 5" descr="policy_by_wealth_b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78" y="938306"/>
            <a:ext cx="7371365" cy="2633993"/>
          </a:xfrm>
          <a:prstGeom prst="rect">
            <a:avLst/>
          </a:prstGeom>
        </p:spPr>
      </p:pic>
      <p:pic>
        <p:nvPicPr>
          <p:cNvPr id="7" name="Picture 6" descr="policy_by_wealth_neut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3560021"/>
            <a:ext cx="7149193" cy="254359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31280" y="2105406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dirty="0"/>
              <a:t>Bear: Even with −15% expected return, low-wealth</a:t>
            </a:r>
            <a:br>
              <a:rPr dirty="0"/>
            </a:br>
            <a:r>
              <a:rPr dirty="0"/>
              <a:t>agents invest aggressively (recovery is probable).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1280" y="4622716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dirty="0"/>
              <a:t>Neutral: Moderate allocation, declining with wealth.</a:t>
            </a:r>
            <a:br>
              <a:rPr dirty="0"/>
            </a:br>
            <a:r>
              <a:rPr dirty="0"/>
              <a:t>CRRA effect drives the decreasing pattern.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9778" y="6263640"/>
            <a:ext cx="1124712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4098" y="6309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B2A4A"/>
                </a:solidFill>
                <a:latin typeface="Calibri"/>
              </a:defRPr>
            </a:pPr>
            <a:r>
              <a:rPr dirty="0"/>
              <a:t>Key insight: Salary income acts as an implicit bond — low-wealth agents can afford higher equity exposure because their human capital provides stable future income.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Optimal Policy: Bull Regime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9/16</a:t>
            </a:r>
          </a:p>
        </p:txBody>
      </p:sp>
      <p:pic>
        <p:nvPicPr>
          <p:cNvPr id="6" name="Picture 5" descr="policy_by_wealth_b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992" y="1714554"/>
            <a:ext cx="11287328" cy="30099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8047" y="509941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rPr dirty="0"/>
              <a:t>High equity allocation for most wealth levels; decreasing with wealth (CRRA effect).</a:t>
            </a:r>
            <a:br>
              <a:rPr dirty="0"/>
            </a:br>
            <a:r>
              <a:rPr dirty="0"/>
              <a:t>Note time-variation: as horizon shortens (</a:t>
            </a:r>
            <a:r>
              <a:rPr dirty="0" err="1"/>
              <a:t>t→T</a:t>
            </a:r>
            <a:r>
              <a:rPr dirty="0"/>
              <a:t>), the policy shifts due to diminishing time to recover from losses.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42416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Policy Heatmap: Wealth × Income (t=0, Neutral)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10/16</a:t>
            </a:r>
          </a:p>
        </p:txBody>
      </p:sp>
      <p:pic>
        <p:nvPicPr>
          <p:cNvPr id="6" name="Picture 5" descr="policy_heatmap_t0_neut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371" y="1159329"/>
            <a:ext cx="7154265" cy="460139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47120" cy="7315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54864" cy="73152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B2A4A"/>
                </a:solidFill>
                <a:latin typeface="Calibri"/>
              </a:defRPr>
            </a:pPr>
            <a:r>
              <a:t>Both wealth AND income jointly determine optimal allocation. Low income + low wealth → highest equity share.</a:t>
            </a:r>
            <a:br/>
            <a:r>
              <a:t>Human capital interpretation: low-income agents have less implicit bond-like income, so the model compensates with higher financial risk.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Value Function at t = 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640080" y="777240"/>
                <a:ext cx="10515600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1400" b="0">
                    <a:solidFill>
                      <a:srgbClr val="2EC4B6"/>
                    </a:solidFill>
                    <a:latin typeface="Calibri"/>
                  </a:defRPr>
                </a:pPr>
                <a:r>
                  <a:rPr dirty="0" err="1"/>
                  <a:t>Normali</a:t>
                </a:r>
                <a:r>
                  <a:rPr lang="en-IN" dirty="0"/>
                  <a:t>z</a:t>
                </a:r>
                <a:r>
                  <a:rPr dirty="0"/>
                  <a:t>ed: </a:t>
                </a:r>
                <a14:m>
                  <m:oMath xmlns:m="http://schemas.openxmlformats.org/officeDocument/2006/math">
                    <m:r>
                      <a:rPr lang="pl-PL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pl-P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d>
                    <m:r>
                      <a:rPr lang="pl-PL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pl-PL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pl-P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l-P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pl-PL" i="1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b>
                        </m:sSub>
                      </m:e>
                    </m:d>
                  </m:oMath>
                </a14:m>
                <a:endParaRPr lang="en-IN" dirty="0"/>
              </a:p>
              <a:p>
                <a:pPr algn="l">
                  <a:defRPr sz="1400" b="0">
                    <a:solidFill>
                      <a:srgbClr val="2EC4B6"/>
                    </a:solidFill>
                    <a:latin typeface="Calibri"/>
                  </a:defRPr>
                </a:pPr>
                <a:endParaRPr lang="en-IN" dirty="0"/>
              </a:p>
              <a:p>
                <a:pPr>
                  <a:defRPr sz="1400" b="0">
                    <a:solidFill>
                      <a:srgbClr val="2EC4B6"/>
                    </a:solidFill>
                    <a:latin typeface="Calibri"/>
                  </a:defRPr>
                </a:pPr>
                <a:endParaRPr lang="en-IN" dirty="0"/>
              </a:p>
              <a:p>
                <a:pPr>
                  <a:defRPr sz="1400" b="0">
                    <a:solidFill>
                      <a:srgbClr val="2EC4B6"/>
                    </a:solidFill>
                    <a:latin typeface="Calibri"/>
                  </a:defRPr>
                </a:pPr>
                <a:endParaRPr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777240"/>
                <a:ext cx="10515600" cy="954107"/>
              </a:xfrm>
              <a:prstGeom prst="rect">
                <a:avLst/>
              </a:prstGeom>
              <a:blipFill>
                <a:blip r:embed="rId2"/>
                <a:stretch>
                  <a:fillRect l="-174" t="-12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11/16</a:t>
            </a:r>
          </a:p>
        </p:txBody>
      </p:sp>
      <p:pic>
        <p:nvPicPr>
          <p:cNvPr id="7" name="Picture 6" descr="value_function_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348" y="1470387"/>
            <a:ext cx="11574998" cy="36171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447" y="5369241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rPr dirty="0"/>
              <a:t>Concave shape reflects diminishing marginal value of wealth under CRRA utility. Low-income agents gain the most from additional wealth (steepest curve).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Monte Carlo Simulation (2,000 Paths)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12/16</a:t>
            </a:r>
          </a:p>
        </p:txBody>
      </p:sp>
      <p:pic>
        <p:nvPicPr>
          <p:cNvPr id="6" name="Picture 5" descr="simulation_wealth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0"/>
            <a:ext cx="5695406" cy="3559629"/>
          </a:xfrm>
          <a:prstGeom prst="rect">
            <a:avLst/>
          </a:prstGeom>
        </p:spPr>
      </p:pic>
      <p:pic>
        <p:nvPicPr>
          <p:cNvPr id="7" name="Picture 6" descr="simulation_avg_risky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8915" y="1371600"/>
            <a:ext cx="5969726" cy="355963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43687" y="5059245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dirty="0"/>
              <a:t>Mean wealth grows ₹2L → ₹21L over 10 years.</a:t>
            </a:r>
            <a:br>
              <a:rPr dirty="0"/>
            </a:br>
            <a:r>
              <a:rPr dirty="0"/>
              <a:t>Wide 10-90 percentile band reflects income &amp; return uncertainty.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3437" y="5120640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dirty="0"/>
              <a:t>Average risky share starts at ~100% (low wealth)</a:t>
            </a:r>
            <a:br>
              <a:rPr dirty="0"/>
            </a:br>
            <a:r>
              <a:rPr dirty="0"/>
              <a:t>and declines to ~53% as wealth accumulates.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Sensitivity Analysis: Risk Aversion (γ)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13/16</a:t>
            </a:r>
          </a:p>
        </p:txBody>
      </p:sp>
      <p:pic>
        <p:nvPicPr>
          <p:cNvPr id="6" name="Picture 5" descr="sensitivity_gam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35147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303520"/>
            <a:ext cx="11247120" cy="10972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5303520"/>
            <a:ext cx="54864" cy="109728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5394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1B2A4A"/>
                </a:solidFill>
                <a:latin typeface="Calibri"/>
              </a:defRPr>
            </a:pPr>
            <a:r>
              <a:t>γ = 1.5 (low risk aversion): maintains high equity allocation longer</a:t>
            </a:r>
          </a:p>
          <a:p>
            <a:pPr>
              <a:spcAft>
                <a:spcPts val="780"/>
              </a:spcAft>
              <a:defRPr sz="1300">
                <a:solidFill>
                  <a:srgbClr val="1B2A4A"/>
                </a:solidFill>
                <a:latin typeface="Calibri"/>
              </a:defRPr>
            </a:pPr>
            <a:r>
              <a:t>γ = 3.0 (moderate): baseline calibration — smooth decline with wealth</a:t>
            </a:r>
          </a:p>
          <a:p>
            <a:pPr>
              <a:spcAft>
                <a:spcPts val="780"/>
              </a:spcAft>
              <a:defRPr sz="1300">
                <a:solidFill>
                  <a:srgbClr val="1B2A4A"/>
                </a:solidFill>
                <a:latin typeface="Calibri"/>
              </a:defRPr>
            </a:pPr>
            <a:r>
              <a:t>γ = 5.0 (high risk aversion): reduces equity much earlier, but even γ=5 invests at very low wealth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Historical Backtest: DP vs Naive Strategies (2014–2024)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14/16</a:t>
            </a:r>
          </a:p>
        </p:txBody>
      </p:sp>
      <p:pic>
        <p:nvPicPr>
          <p:cNvPr id="6" name="Picture 5" descr="backtest_wealth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7772400" cy="4663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503920" y="1554480"/>
            <a:ext cx="3200400" cy="3703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0" y="1645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4B6"/>
                </a:solidFill>
                <a:latin typeface="Calibri"/>
              </a:defRPr>
            </a:pPr>
            <a:r>
              <a:t>Final Wealth (₹ Lakhs)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DP Optimal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21945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B2A4A"/>
                </a:solidFill>
                <a:latin typeface="Calibri"/>
              </a:defRPr>
            </a:pPr>
            <a:r>
              <a:t>₹21.4L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143C"/>
                </a:solidFill>
                <a:latin typeface="Calibri"/>
              </a:defRPr>
            </a:pPr>
            <a:r>
              <a:t>100% Equity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2743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DC143C"/>
                </a:solidFill>
                <a:latin typeface="Calibri"/>
              </a:defRPr>
            </a:pPr>
            <a:r>
              <a:t>₹22.0L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80"/>
                </a:solidFill>
                <a:latin typeface="Calibri"/>
              </a:defRPr>
            </a:pPr>
            <a:r>
              <a:t>50-50 Mix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32918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8080"/>
                </a:solidFill>
                <a:latin typeface="Calibri"/>
              </a:defRPr>
            </a:pPr>
            <a:r>
              <a:t>₹17.8L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840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FD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3840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666666"/>
                </a:solidFill>
                <a:latin typeface="Calibri"/>
              </a:defRPr>
            </a:pPr>
            <a:r>
              <a:t>₹14.2L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43891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dirty="0"/>
              <a:t>DP achieves 97% of pure</a:t>
            </a:r>
            <a:br>
              <a:rPr dirty="0"/>
            </a:br>
            <a:r>
              <a:rPr dirty="0"/>
              <a:t>equity returns with principled</a:t>
            </a:r>
            <a:br>
              <a:rPr dirty="0"/>
            </a:br>
            <a:r>
              <a:rPr dirty="0"/>
              <a:t>risk management.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1264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Background colours indicate actual market regimes: B = Bear, N = Neutral, B = Bull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Backtest: DP Optimal Allocation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15/16</a:t>
            </a:r>
          </a:p>
        </p:txBody>
      </p:sp>
      <p:pic>
        <p:nvPicPr>
          <p:cNvPr id="6" name="Picture 5" descr="backtest_dp_alp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140" y="1356568"/>
            <a:ext cx="9457117" cy="389797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5116068"/>
            <a:ext cx="10169238" cy="138074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5308092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>
                <a:solidFill>
                  <a:srgbClr val="1B2A4A"/>
                </a:solidFill>
                <a:latin typeface="Calibri"/>
              </a:defRPr>
            </a:pPr>
            <a:r>
              <a:rPr dirty="0"/>
              <a:t>100% equity for first 6 years (low wealth → maximum risk-taking)</a:t>
            </a:r>
          </a:p>
          <a:p>
            <a:pPr>
              <a:spcAft>
                <a:spcPts val="840"/>
              </a:spcAft>
              <a:defRPr sz="1400">
                <a:solidFill>
                  <a:srgbClr val="1B2A4A"/>
                </a:solidFill>
                <a:latin typeface="Calibri"/>
              </a:defRPr>
            </a:pPr>
            <a:r>
              <a:rPr dirty="0"/>
              <a:t>Reduces to 90% as wealth grows past ~₹10L (CRRA-driven de-risking)</a:t>
            </a:r>
          </a:p>
          <a:p>
            <a:pPr>
              <a:spcAft>
                <a:spcPts val="840"/>
              </a:spcAft>
              <a:defRPr sz="1400">
                <a:solidFill>
                  <a:srgbClr val="1B2A4A"/>
                </a:solidFill>
                <a:latin typeface="Calibri"/>
              </a:defRPr>
            </a:pPr>
            <a:r>
              <a:rPr dirty="0"/>
              <a:t>The policy adapts dynamically to the agent's state — this is the core DP advantage over static rules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Insights &amp; Conclusions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2743200" cy="36576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789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8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 Optimal risk-taking decreases with wealth (CRRA) and worsens with bad market regime</a:t>
            </a:r>
          </a:p>
          <a:p>
            <a:pPr>
              <a:spcAft>
                <a:spcPts val="128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 Low-wealth households should invest aggressively — salary acts as an implicit bond</a:t>
            </a:r>
          </a:p>
          <a:p>
            <a:pPr>
              <a:spcAft>
                <a:spcPts val="128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 Bear markets ≠ zero equity: the model knows recoveries are probabilistically likely</a:t>
            </a:r>
          </a:p>
          <a:p>
            <a:pPr>
              <a:spcAft>
                <a:spcPts val="128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 Risk aversion (γ) is the most powerful single driver of allocation differences</a:t>
            </a:r>
          </a:p>
          <a:p>
            <a:pPr>
              <a:spcAft>
                <a:spcPts val="128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 Backtest validates: DP policy achieves near-equity returns with principled risk management</a:t>
            </a:r>
          </a:p>
          <a:p>
            <a:pPr>
              <a:spcAft>
                <a:spcPts val="128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 Both Value Iteration and Policy Iteration converge to identical optimal policies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54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A500"/>
                </a:solidFill>
                <a:latin typeface="Calibri"/>
              </a:defRPr>
            </a:pPr>
            <a:r>
              <a:t>Possible Extensions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120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Endogenous consumption-savings choice  •  Correlated income–return shocks</a:t>
            </a:r>
          </a:p>
          <a:p>
            <a:pPr>
              <a:spcAft>
                <a:spcPts val="65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Inflation adjustment  •  CPHS/IHDS panel calibration  •  Transaction costs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26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Data: PLFS 2023-24 (MoSPI)  •  Nifty 50 TRI (NSE)  •  RBI Annual Report 2024-25  •  Campbell &amp; Viceira (2002)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20C00F-91CB-EAD5-C622-628FB4A84137}"/>
              </a:ext>
            </a:extLst>
          </p:cNvPr>
          <p:cNvSpPr txBox="1"/>
          <p:nvPr/>
        </p:nvSpPr>
        <p:spPr>
          <a:xfrm>
            <a:off x="2811236" y="2382560"/>
            <a:ext cx="6523264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/>
              <a:t>Thank You</a:t>
            </a:r>
          </a:p>
          <a:p>
            <a:pPr algn="ctr"/>
            <a:r>
              <a:rPr lang="en-IN" dirty="0"/>
              <a:t>We Welcome any Questions and Feedback</a:t>
            </a:r>
          </a:p>
        </p:txBody>
      </p:sp>
    </p:spTree>
    <p:extLst>
      <p:ext uri="{BB962C8B-B14F-4D97-AF65-F5344CB8AC3E}">
        <p14:creationId xmlns:p14="http://schemas.microsoft.com/office/powerpoint/2010/main" val="3937711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1210</Words>
  <Application>Microsoft Office PowerPoint</Application>
  <PresentationFormat>Widescreen</PresentationFormat>
  <Paragraphs>155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VIVEK KUMAR(IED10008.22@bitmesra.ac.in)</cp:lastModifiedBy>
  <cp:revision>4</cp:revision>
  <dcterms:created xsi:type="dcterms:W3CDTF">2013-01-27T09:14:16Z</dcterms:created>
  <dcterms:modified xsi:type="dcterms:W3CDTF">2026-04-20T18:03:21Z</dcterms:modified>
  <cp:category/>
</cp:coreProperties>
</file>